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206" autoAdjust="0"/>
  </p:normalViewPr>
  <p:slideViewPr>
    <p:cSldViewPr snapToGrid="0" snapToObjects="1">
      <p:cViewPr varScale="1">
        <p:scale>
          <a:sx n="153" d="100"/>
          <a:sy n="153" d="100"/>
        </p:scale>
        <p:origin x="57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96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79" y="548577"/>
            <a:ext cx="418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CADCF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BAHÇEŞEHİR UNIVERSITY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3838" y="886968"/>
            <a:ext cx="6239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Faculty of Engineering and Natural Sciences  |  Department of Artificial Intelligence Engineering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3838" y="1481328"/>
            <a:ext cx="201168" cy="20116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50976" y="1481328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61872" y="1481328"/>
            <a:ext cx="201168" cy="20116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" y="1961388"/>
            <a:ext cx="1219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DESIGN AND IMPLEMENTATION OF AN</a:t>
            </a:r>
            <a:b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OPTIMAL BINARY SEARCH TREE (OBST)</a:t>
            </a:r>
          </a:p>
          <a:p>
            <a:pPr marL="0" indent="0" algn="ctr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USING DYNAMIC PROGRAMMING (DP)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" y="4069080"/>
            <a:ext cx="1219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CMP3005 — Analysis of Algorithms  |  Course Project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6204D"/>
          </a:solidFill>
          <a:ln w="12700">
            <a:solidFill>
              <a:srgbClr val="16204D"/>
            </a:solidFill>
            <a:prstDash val="solid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68680" y="48280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
</a:t>
            </a: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WALID M. W. KOBAHALABI
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ID: 2477317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89320" y="470916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16204D"/>
          </a:solidFill>
          <a:ln w="12700">
            <a:solidFill>
              <a:srgbClr val="16204D"/>
            </a:solidFill>
            <a:prstDash val="solid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217920" y="482803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 the guidance of
</a:t>
            </a: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Dr. MD IMRAN HOSEN
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Course Instructor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Academic Year 25/26 - Summer 2026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367232E-2F6A-455F-9D60-E7A876721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0799" y="548577"/>
            <a:ext cx="1757363" cy="6421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28600"/>
            <a:ext cx="12191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Problem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-1" y="1143000"/>
            <a:ext cx="121919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Searching a key costs one comparison per level. So, the cost of a search is the depth of the key.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E(T)  =  Σ  pᵢ × depth(kᵢ)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35040" y="17373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Probabilities are fixed by the input.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Depths are the only thing we control.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Goal: put frequent keys near the root.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Given sorted keys and their search probabilities, build the binary search tree with the smallest expected number of comparisons.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68680" y="4069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not just try every tree?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68680" y="4480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42 trees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6868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= 5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434840" y="4480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6.56 × 10⁹ trees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43484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= 20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001000" y="4480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7A4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1,540 operations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00100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= 20 with DP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number of possible trees grows exponentially (Catalan numbers), so brute force is impossible.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20040"/>
            <a:ext cx="1219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Dynamic Programming Formulation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State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4447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C[i, j] = minimum expected cost for keys kᵢ … kⱼ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Depth is measured from that sub-tree's own root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Keeping the subproblems independent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217920" y="10972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Base case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444752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0" y="14447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C[i, j] = 0   when  i &gt; j    (empty sub-tree)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217920" y="2240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single-key case C[i,i] = pᵢ follows from this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a separate rule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Recurrence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C[i, j]  =  min over r in [i..j] of  { C[i, r−1] + C[r+1, j] }  +  W(i, j)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the + W(i, j) term?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772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289304" y="4937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Pick kᵣ as root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77240" y="5349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range splits into two independent halves.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43400" y="47091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0" y="489204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074920" y="49240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halves drop one level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572000" y="5349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key inside needs one extra comparison.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38160" y="47091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66760" y="489204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3667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869680" y="4918407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extra cost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366760" y="5349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W(i, j) = pᵢ + … + pⱼ, the sum of the range.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20040"/>
            <a:ext cx="1219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Algorithm - Filling the Tables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09600" y="24231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Fill by range length, shortest first.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C[i, j] needs shorter ranges, so those must already be final.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each range, try every key as root and keep the smallest.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Store the winner in the root table R[i, j].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Pre-compute prefix sums so W(i, j) is O(1).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49377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49377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prefix sums the algorithm would be O(n⁴) instead of O(n³).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5473" y="1540701"/>
            <a:ext cx="4469287" cy="4174299"/>
          </a:xfrm>
          <a:prstGeom prst="roundRect">
            <a:avLst>
              <a:gd name="adj" fmla="val 1495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16204D"/>
            </a:solidFill>
            <a:prstDash val="solid"/>
          </a:ln>
        </p:spPr>
        <p:txBody>
          <a:bodyPr/>
          <a:lstStyle/>
          <a:p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219793" y="1677861"/>
            <a:ext cx="4006947" cy="234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src/obst.py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219792" y="1988821"/>
            <a:ext cx="4194967" cy="3643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for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length </a:t>
            </a:r>
            <a:r>
              <a:rPr lang="en-US" sz="1050" dirty="0">
                <a:solidFill>
                  <a:schemeClr val="accent2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in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</a:t>
            </a:r>
            <a:r>
              <a:rPr lang="en-US" sz="1050" dirty="0">
                <a:solidFill>
                  <a:srgbClr val="9966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range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(</a:t>
            </a:r>
            <a:r>
              <a:rPr lang="en-US" sz="1050" dirty="0">
                <a:solidFill>
                  <a:srgbClr val="00B0F0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, n + </a:t>
            </a:r>
            <a:r>
              <a:rPr lang="en-US" sz="1050" dirty="0">
                <a:solidFill>
                  <a:srgbClr val="00B0F0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):</a:t>
            </a: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</a:t>
            </a:r>
            <a:r>
              <a:rPr lang="en-US" sz="1050" dirty="0">
                <a:solidFill>
                  <a:schemeClr val="accent2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for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i </a:t>
            </a:r>
            <a:r>
              <a:rPr lang="en-US" sz="1050" dirty="0">
                <a:solidFill>
                  <a:schemeClr val="accent2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in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</a:t>
            </a:r>
            <a:r>
              <a:rPr lang="en-US" sz="1050" dirty="0">
                <a:solidFill>
                  <a:srgbClr val="9966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range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(</a:t>
            </a:r>
            <a:r>
              <a:rPr lang="en-US" sz="1050" dirty="0">
                <a:solidFill>
                  <a:srgbClr val="00B0F0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, n - length + </a:t>
            </a:r>
            <a:r>
              <a:rPr lang="en-US" sz="1050" dirty="0">
                <a:solidFill>
                  <a:srgbClr val="00B0F0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):</a:t>
            </a: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j = i + length – </a:t>
            </a:r>
            <a:r>
              <a:rPr lang="en-US" sz="1050" dirty="0">
                <a:solidFill>
                  <a:srgbClr val="00B0F0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1</a:t>
            </a:r>
          </a:p>
          <a:p>
            <a:pPr marL="0" indent="0">
              <a:lnSpc>
                <a:spcPts val="1500"/>
              </a:lnSpc>
              <a:buNone/>
            </a:pPr>
            <a:endParaRPr lang="en-US" sz="500" dirty="0">
              <a:solidFill>
                <a:srgbClr val="00B0F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05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</a:t>
            </a:r>
            <a:r>
              <a:rPr lang="en-AE" sz="800" dirty="0">
                <a:solidFill>
                  <a:srgbClr val="7A7E85"/>
                </a:solidFill>
                <a:effectLst/>
                <a:latin typeface="JetBrains Mono"/>
              </a:rPr>
              <a:t># Calculate the summation term for the successful-search probabilities</a:t>
            </a:r>
            <a:endParaRPr lang="en-US" sz="8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weight = interval_probability(prefix, i, j)</a:t>
            </a: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best_cost = </a:t>
            </a:r>
            <a:r>
              <a:rPr lang="en-US" sz="1050" dirty="0">
                <a:solidFill>
                  <a:srgbClr val="9966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float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(</a:t>
            </a:r>
            <a:r>
              <a:rPr lang="en-US" sz="1050" dirty="0">
                <a:solidFill>
                  <a:srgbClr val="92D050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"inf"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)</a:t>
            </a:r>
            <a:endParaRPr lang="en-US" sz="1050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best_root = i</a:t>
            </a: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050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AE" sz="800" dirty="0">
                <a:solidFill>
                  <a:srgbClr val="7A7E85"/>
                </a:solidFill>
                <a:effectLst/>
                <a:latin typeface="JetBrains Mono"/>
              </a:rPr>
              <a:t>                          # Evaluate every possible root k in the interval to minimize the search cost</a:t>
            </a:r>
            <a:endParaRPr lang="en-US" sz="8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</a:t>
            </a:r>
            <a:r>
              <a:rPr lang="en-US" sz="1050" dirty="0">
                <a:solidFill>
                  <a:schemeClr val="accent2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for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r </a:t>
            </a:r>
            <a:r>
              <a:rPr lang="en-US" sz="1050" dirty="0">
                <a:solidFill>
                  <a:schemeClr val="accent2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in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</a:t>
            </a:r>
            <a:r>
              <a:rPr lang="en-US" sz="1050" dirty="0">
                <a:solidFill>
                  <a:srgbClr val="9966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range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(i, j + </a:t>
            </a:r>
            <a:r>
              <a:rPr lang="en-US" sz="1050" dirty="0">
                <a:solidFill>
                  <a:srgbClr val="00B0F0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):</a:t>
            </a:r>
          </a:p>
          <a:p>
            <a:pPr>
              <a:buNone/>
            </a:pPr>
            <a:r>
              <a:rPr kumimoji="0" lang="en-AE" sz="800" b="0" i="0" u="none" strike="noStrike" kern="1200" cap="none" spc="0" normalizeH="0" baseline="0" noProof="0" dirty="0">
                <a:ln>
                  <a:noFill/>
                </a:ln>
                <a:solidFill>
                  <a:srgbClr val="7A7E8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          </a:t>
            </a:r>
            <a:r>
              <a:rPr lang="en-AE" sz="800" dirty="0">
                <a:solidFill>
                  <a:srgbClr val="7A7E85"/>
                </a:solidFill>
                <a:effectLst/>
                <a:latin typeface="JetBrains Mono"/>
              </a:rPr>
              <a:t># Recurrence relation applying the minimum expected search cost of subtrees</a:t>
            </a:r>
            <a:endParaRPr lang="en-AE" sz="800" dirty="0">
              <a:solidFill>
                <a:srgbClr val="BCBEC4"/>
              </a:solidFill>
              <a:effectLst/>
              <a:latin typeface="JetBrains Mono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    sub = (cost[i][r-</a:t>
            </a:r>
            <a:r>
              <a:rPr lang="en-US" sz="1050" dirty="0">
                <a:solidFill>
                  <a:srgbClr val="00B0F0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]</a:t>
            </a:r>
            <a:r>
              <a:rPr lang="en-US" sz="1050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+ cost[r+</a:t>
            </a:r>
            <a:r>
              <a:rPr lang="en-US" sz="1050" dirty="0">
                <a:solidFill>
                  <a:srgbClr val="00B0F0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][j])</a:t>
            </a: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    </a:t>
            </a:r>
            <a:r>
              <a:rPr lang="en-US" sz="1050" dirty="0">
                <a:solidFill>
                  <a:schemeClr val="accent2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if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sub &lt; best_cost:</a:t>
            </a: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        best_cost = sub</a:t>
            </a: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        best_root = r</a:t>
            </a:r>
          </a:p>
          <a:p>
            <a:pPr marL="0" indent="0">
              <a:lnSpc>
                <a:spcPts val="1500"/>
              </a:lnSpc>
              <a:buNone/>
            </a:pP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kumimoji="0" lang="en-AE" sz="800" b="0" i="0" u="none" strike="noStrike" kern="1200" cap="none" spc="0" normalizeH="0" baseline="0" noProof="0" dirty="0">
                <a:ln>
                  <a:noFill/>
                </a:ln>
                <a:solidFill>
                  <a:srgbClr val="7A7E8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          </a:t>
            </a:r>
            <a:r>
              <a:rPr lang="en-AE" sz="800" dirty="0">
                <a:solidFill>
                  <a:srgbClr val="7A7E85"/>
                </a:solidFill>
                <a:effectLst/>
                <a:latin typeface="JetBrains Mono"/>
              </a:rPr>
              <a:t># Update the DP state C[i,j] and record the optimal root</a:t>
            </a:r>
            <a:endParaRPr lang="en-AE" sz="800" dirty="0">
              <a:solidFill>
                <a:srgbClr val="BCBEC4"/>
              </a:solidFill>
              <a:effectLst/>
              <a:latin typeface="JetBrains Mono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cost[i][j] = best_cost + weight</a:t>
            </a: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49" charset="0"/>
                <a:ea typeface="Courier New" pitchFamily="34" charset="-122"/>
                <a:cs typeface="Times New Roman" panose="02020603050405020304" pitchFamily="18" charset="0"/>
              </a:rPr>
              <a:t>        root[i][j] = best_root</a:t>
            </a:r>
            <a:endParaRPr lang="en-US" sz="10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20040"/>
            <a:ext cx="1219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Two Tables - Example: keys 10…50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Probabilities:  0.10,  0.20,  0.40,  0.20,  0.10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Cost table C[i, j]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120640" cy="186537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i\j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6309360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Root table R[i, j]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5120640" cy="186537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i\j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0690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77240" y="4297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C[1, 5] = 1.80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77240" y="4846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minimum expected search cost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top-right cell of the cost table.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77240" y="5440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the upper triangle is used (i ≤ j).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309360" y="40690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537960" y="4297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R[1, 5] = 3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537960" y="4846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30 is the root of the whole tree.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root table is what lets us rebuild the tree itself.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20040"/>
            <a:ext cx="1219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Rebuilding the Tree from the Root Table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R[1,5] = 3  →  key 30 is the root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Left range [1,2]:  R[1,2] = 2  →  key 20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Right range [4,5]:  R[4,5] = 4  →  key 40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Recurse until every key is placed.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 flipH="1">
            <a:off x="7620002" y="1943100"/>
            <a:ext cx="1188720" cy="5486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08722" y="1943100"/>
            <a:ext cx="1188720" cy="5486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 flipH="1">
            <a:off x="6797042" y="3040380"/>
            <a:ext cx="822960" cy="5486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997442" y="3040380"/>
            <a:ext cx="822960" cy="5486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22722" y="35890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22722" y="3589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45682" y="24917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45682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34402" y="1394460"/>
            <a:ext cx="548640" cy="5486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534402" y="13944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30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23122" y="24917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723122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40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546082" y="35890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546082" y="3589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50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2926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Verification - the cost is checked twice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5120640" cy="204825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× 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309360" y="448056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6537960" y="4617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Two independent computations agree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6537960" y="4983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DP table says 1.80. Walking the rebuilt tree and</a:t>
            </a:r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summing p × depth also gives 1.80 - without ever reading the cost table.</a:t>
            </a:r>
          </a:p>
          <a:p>
            <a:pPr marL="0" indent="0" algn="ctr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Difference: 2.22 × 10⁻¹⁶ (floating-point only).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20040"/>
            <a:ext cx="1219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Comparison with a Conventional BST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120562"/>
              </p:ext>
            </p:extLst>
          </p:nvPr>
        </p:nvGraphicFramePr>
        <p:xfrm>
          <a:off x="548640" y="1188720"/>
          <a:ext cx="11064240" cy="1682496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insertion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(midpoint)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BST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20040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key insight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68680" y="3794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balanced tree and the optimal tree have the SAME height (3) and the SAME average depth (2.2).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68680" y="41605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Structurally they are identical: one key at depth 1, two at depth 2, two at depth 3.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whole 5.26% improvement comes from WHICH key sits at each depth.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5"/>
          <p:cNvSpPr/>
          <p:nvPr/>
        </p:nvSpPr>
        <p:spPr>
          <a:xfrm>
            <a:off x="868680" y="484632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51560" y="48463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Balanced puts key 10 (p = 0.10) at depth 2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key 20 (p = 0.20) at depth 3.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63640" y="484632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446520" y="48463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optimal tree swaps them.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That single swap is worth exactly 0.10.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20040"/>
            <a:ext cx="1219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Experimental Analysis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Seven input sizes, five random runs each, timed with time.perf_counter()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852160" cy="24505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µs / 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0.001168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0.008437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171,700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0.061855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1,353,400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0.550207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10,746,800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77240" y="4370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Cost per operation settles near 0.05 µs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77240" y="473659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total time = operations × a constant, the algorithm really is cubic.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last three sizes confirm it.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Doubling n from 200 to 400 multiplied the time by 8.9 — cubic predicts 8.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complex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08760"/>
            <a:ext cx="4937760" cy="3566160"/>
          </a:xfrm>
          <a:prstGeom prst="rect">
            <a:avLst/>
          </a:prstGeom>
        </p:spPr>
      </p:pic>
      <p:sp>
        <p:nvSpPr>
          <p:cNvPr id="4" name="Shape 5"/>
          <p:cNvSpPr/>
          <p:nvPr/>
        </p:nvSpPr>
        <p:spPr>
          <a:xfrm>
            <a:off x="6675120" y="52578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903720" y="5257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Measured curve follows the n³ reference line.</a:t>
            </a:r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 sizes sit above it because of fixed overhead.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20040"/>
            <a:ext cx="1219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Complexity Analysis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Time:  O(n³)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Θ(n²) sub-problems — one per range [i, j]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tries up to O(n) candidate roots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Exact count:  n(n+1)(n+2) / 6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9224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Space:  O(n²)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tables, each one entry per (i, j)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Prefix-sum array adds only Θ(n)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tables dominate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Theory matches measurement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7724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0.05 µs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4983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cost per operation converges to a constant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43400" y="4206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57200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8.9×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0" y="4983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 growth when n doubles</a:t>
            </a:r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(cubic predicts 8)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38160" y="4206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36676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2.836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66760" y="4983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fitted exponent for n ≥ 20 (theory says 3)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48640"/>
            <a:ext cx="1219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Summary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6204D"/>
          </a:solidFill>
          <a:ln w="12700">
            <a:solidFill>
              <a:srgbClr val="16204D"/>
            </a:solidFill>
            <a:prstDash val="solid"/>
          </a:ln>
        </p:spPr>
        <p:txBody>
          <a:bodyPr/>
          <a:lstStyle/>
          <a:p>
            <a:pPr algn="ctr"/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914400" y="1536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Formulated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State, recurrence and base case derived from first principles.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6204D"/>
          </a:solidFill>
          <a:ln w="12700">
            <a:solidFill>
              <a:srgbClr val="16204D"/>
            </a:solidFill>
            <a:prstDash val="solid"/>
          </a:ln>
        </p:spPr>
        <p:txBody>
          <a:bodyPr/>
          <a:lstStyle/>
          <a:p>
            <a:pPr algn="ctr"/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92240" y="1536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Implemented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9224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Python, 7 modules, no hard-coded results, input validated.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6204D"/>
          </a:solidFill>
          <a:ln w="12700">
            <a:solidFill>
              <a:srgbClr val="16204D"/>
            </a:solidFill>
            <a:prstDash val="solid"/>
          </a:ln>
        </p:spPr>
        <p:txBody>
          <a:bodyPr/>
          <a:lstStyle/>
          <a:p>
            <a:pPr algn="ctr"/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2770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Verified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1440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185 automated tests + brute force for n ≤ 7 (429 trees).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265176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6204D"/>
          </a:solidFill>
          <a:ln w="12700">
            <a:solidFill>
              <a:srgbClr val="16204D"/>
            </a:solidFill>
            <a:prstDash val="solid"/>
          </a:ln>
        </p:spPr>
        <p:txBody>
          <a:bodyPr/>
          <a:lstStyle/>
          <a:p>
            <a:pPr algn="ctr"/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92240" y="2770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Analysed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9224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O(n³) / O(n²) confirmed across seven input sizes.</a:t>
            </a:r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ADCF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I learned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0080" y="44988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greedy rule fails: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 my ten-key test the second-highest-probability key is NOT placed nearest the root, because a root choice affects every other key in the range.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04D"/>
          </a:solidFill>
          <a:ln w="12700">
            <a:solidFill>
              <a:srgbClr val="16204D"/>
            </a:solidFill>
            <a:prstDash val="solid"/>
          </a:ln>
        </p:spPr>
        <p:txBody>
          <a:bodyPr/>
          <a:lstStyle/>
          <a:p>
            <a:endParaRPr lang="en-AE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 code: 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github.com/WalidMWH/optimal-bst-dynamic-programming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 — questions welcome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1422</Words>
  <Application>Microsoft Office PowerPoint</Application>
  <PresentationFormat>Widescreen</PresentationFormat>
  <Paragraphs>285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JetBrains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WALID M W KOBAHALABI</cp:lastModifiedBy>
  <cp:revision>2</cp:revision>
  <dcterms:created xsi:type="dcterms:W3CDTF">2026-09-06T21:11:56Z</dcterms:created>
  <dcterms:modified xsi:type="dcterms:W3CDTF">2026-09-06T21:55:14Z</dcterms:modified>
</cp:coreProperties>
</file>